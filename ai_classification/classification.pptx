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9" r:id="rId14"/>
    <p:sldId id="270" r:id="rId15"/>
    <p:sldId id="271" r:id="rId16"/>
    <p:sldId id="268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278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6A1E9-046F-460A-9ED5-B7EAF2655F19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B3D9E-59D6-497D-8991-0ABF4963A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9961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6A1E9-046F-460A-9ED5-B7EAF2655F19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B3D9E-59D6-497D-8991-0ABF4963A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9948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6A1E9-046F-460A-9ED5-B7EAF2655F19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B3D9E-59D6-497D-8991-0ABF4963A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6433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6A1E9-046F-460A-9ED5-B7EAF2655F19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B3D9E-59D6-497D-8991-0ABF4963A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3286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6A1E9-046F-460A-9ED5-B7EAF2655F19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B3D9E-59D6-497D-8991-0ABF4963A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7807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6A1E9-046F-460A-9ED5-B7EAF2655F19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B3D9E-59D6-497D-8991-0ABF4963A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708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6A1E9-046F-460A-9ED5-B7EAF2655F19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B3D9E-59D6-497D-8991-0ABF4963A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2669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6A1E9-046F-460A-9ED5-B7EAF2655F19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B3D9E-59D6-497D-8991-0ABF4963A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1600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6A1E9-046F-460A-9ED5-B7EAF2655F19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B3D9E-59D6-497D-8991-0ABF4963A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2759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6A1E9-046F-460A-9ED5-B7EAF2655F19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B3D9E-59D6-497D-8991-0ABF4963A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1466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6A1E9-046F-460A-9ED5-B7EAF2655F19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B3D9E-59D6-497D-8991-0ABF4963A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052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86A1E9-046F-460A-9ED5-B7EAF2655F19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B3D9E-59D6-497D-8991-0ABF4963A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1106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playground.tensorflow.or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7D5244-ED2C-480B-BC31-2E83E5A154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Классификация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1D0B0EB-2516-467D-AD14-7F2E238C11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115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B2568D-F678-466E-9B3F-4EFCABF9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Повторение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BAEBC21-E72F-4CF9-A747-6A65FE80002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240" y="1505440"/>
            <a:ext cx="8013520" cy="4987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5020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B2568D-F678-466E-9B3F-4EFCABF9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Повторение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40CADB8-81E1-4902-A9E8-39376F024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2361"/>
            <a:ext cx="12192000" cy="2853278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68EA1BD1-D3D8-4B40-900C-E86B5B910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936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B2568D-F678-466E-9B3F-4EFCABF9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 err="1">
                <a:solidFill>
                  <a:srgbClr val="FFFFFF"/>
                </a:solidFill>
                <a:effectLst/>
                <a:latin typeface="system-ui"/>
              </a:rPr>
              <a:t>kNN</a:t>
            </a:r>
            <a:endParaRPr lang="ru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05B2972-1F09-4735-A10F-25D24EDAA88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7075" y="2224881"/>
            <a:ext cx="5657850" cy="355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335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B2568D-F678-466E-9B3F-4EFCABF9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FFFF"/>
                </a:solidFill>
                <a:latin typeface="system-ui"/>
              </a:rPr>
              <a:t>Деревья решений</a:t>
            </a:r>
            <a:endParaRPr lang="ru-RU" dirty="0"/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27124D4E-B7FD-4DE0-A815-9D00138D86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238948" y="1825625"/>
            <a:ext cx="771410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9762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B2568D-F678-466E-9B3F-4EFCABF9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FFFF"/>
                </a:solidFill>
                <a:latin typeface="system-ui"/>
              </a:rPr>
              <a:t>Деревья решений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91306A-4947-4901-93C7-22891B178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Орел или попугай?</a:t>
            </a:r>
            <a:endParaRPr lang="en-US" dirty="0"/>
          </a:p>
          <a:p>
            <a:r>
              <a:rPr lang="ru-RU" dirty="0"/>
              <a:t>Что еще можно добавить?</a:t>
            </a:r>
          </a:p>
        </p:txBody>
      </p:sp>
    </p:spTree>
    <p:extLst>
      <p:ext uri="{BB962C8B-B14F-4D97-AF65-F5344CB8AC3E}">
        <p14:creationId xmlns:p14="http://schemas.microsoft.com/office/powerpoint/2010/main" val="273620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B2568D-F678-466E-9B3F-4EFCABF9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FFFF"/>
                </a:solidFill>
                <a:latin typeface="system-ui"/>
              </a:rPr>
              <a:t>Логистическая регрессия</a:t>
            </a:r>
            <a:endParaRPr lang="ru-RU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6972FDE-F798-4A52-B613-BE7F4B4172B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274" y="1825625"/>
            <a:ext cx="680145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0283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B2568D-F678-466E-9B3F-4EFCABF9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FFFF"/>
                </a:solidFill>
                <a:latin typeface="system-ui"/>
              </a:rPr>
              <a:t>Логистическая регрессия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321D65-DB1A-4BE8-A5C1-71AC7E1A1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w1*x1 + w2*x2 + b = z</a:t>
            </a:r>
          </a:p>
          <a:p>
            <a:pPr marL="0" indent="0">
              <a:buNone/>
            </a:pPr>
            <a:r>
              <a:rPr lang="en-US" dirty="0"/>
              <a:t>x2 = - (z + w1*x1 + b) / w2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0377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B2568D-F678-466E-9B3F-4EFCABF9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FFFF"/>
                </a:solidFill>
                <a:latin typeface="system-ui"/>
              </a:rPr>
              <a:t>Логистическая регрессия </a:t>
            </a:r>
            <a:r>
              <a:rPr lang="en-US" dirty="0">
                <a:solidFill>
                  <a:srgbClr val="FFFFFF"/>
                </a:solidFill>
                <a:latin typeface="system-ui"/>
              </a:rPr>
              <a:t>vs </a:t>
            </a:r>
            <a:r>
              <a:rPr lang="ru-RU" dirty="0">
                <a:solidFill>
                  <a:srgbClr val="FFFFFF"/>
                </a:solidFill>
                <a:latin typeface="system-ui"/>
              </a:rPr>
              <a:t>Дерево решений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115D2F-239C-4BA2-8D45-82215C214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Что точнее?</a:t>
            </a:r>
          </a:p>
        </p:txBody>
      </p:sp>
    </p:spTree>
    <p:extLst>
      <p:ext uri="{BB962C8B-B14F-4D97-AF65-F5344CB8AC3E}">
        <p14:creationId xmlns:p14="http://schemas.microsoft.com/office/powerpoint/2010/main" val="195518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B2568D-F678-466E-9B3F-4EFCABF9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FFFF"/>
                </a:solidFill>
                <a:latin typeface="system-ui"/>
              </a:rPr>
              <a:t>CatBoost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115D2F-239C-4BA2-8D45-82215C214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Работа с категориями</a:t>
            </a:r>
          </a:p>
          <a:p>
            <a:r>
              <a:rPr lang="ru-RU" dirty="0"/>
              <a:t>Ансамбль деревьев</a:t>
            </a:r>
          </a:p>
        </p:txBody>
      </p:sp>
    </p:spTree>
    <p:extLst>
      <p:ext uri="{BB962C8B-B14F-4D97-AF65-F5344CB8AC3E}">
        <p14:creationId xmlns:p14="http://schemas.microsoft.com/office/powerpoint/2010/main" val="4096529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B2568D-F678-466E-9B3F-4EFCABF9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FFFF"/>
                </a:solidFill>
                <a:latin typeface="system-ui"/>
              </a:rPr>
              <a:t>CatBoost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115D2F-239C-4BA2-8D45-82215C214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Сравним с логистической регрессией и деревом решений</a:t>
            </a:r>
          </a:p>
        </p:txBody>
      </p:sp>
    </p:spTree>
    <p:extLst>
      <p:ext uri="{BB962C8B-B14F-4D97-AF65-F5344CB8AC3E}">
        <p14:creationId xmlns:p14="http://schemas.microsoft.com/office/powerpoint/2010/main" val="2455682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B2568D-F678-466E-9B3F-4EFCABF9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FFFF"/>
                </a:solidFill>
                <a:latin typeface="system-ui"/>
              </a:rPr>
              <a:t>Нейросети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115D2F-239C-4BA2-8D45-82215C214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Изображения (генерация картинок, </a:t>
            </a:r>
            <a:r>
              <a:rPr lang="en-US" dirty="0" err="1"/>
              <a:t>FaceID</a:t>
            </a:r>
            <a:r>
              <a:rPr lang="ru-RU" dirty="0"/>
              <a:t>)</a:t>
            </a:r>
          </a:p>
          <a:p>
            <a:r>
              <a:rPr lang="ru-RU" dirty="0"/>
              <a:t>Тексты</a:t>
            </a:r>
            <a:r>
              <a:rPr lang="en-US" dirty="0"/>
              <a:t> (</a:t>
            </a:r>
            <a:r>
              <a:rPr lang="ru-RU" dirty="0"/>
              <a:t>перевод, разговор с компьютером</a:t>
            </a:r>
            <a:r>
              <a:rPr lang="en-US" dirty="0"/>
              <a:t>)</a:t>
            </a:r>
            <a:endParaRPr lang="ru-RU" dirty="0"/>
          </a:p>
          <a:p>
            <a:r>
              <a:rPr lang="ru-RU" dirty="0"/>
              <a:t>Множество других данных</a:t>
            </a:r>
          </a:p>
        </p:txBody>
      </p:sp>
    </p:spTree>
    <p:extLst>
      <p:ext uri="{BB962C8B-B14F-4D97-AF65-F5344CB8AC3E}">
        <p14:creationId xmlns:p14="http://schemas.microsoft.com/office/powerpoint/2010/main" val="2024579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B2568D-F678-466E-9B3F-4EFCABF9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FFFF"/>
                </a:solidFill>
                <a:latin typeface="system-ui"/>
              </a:rPr>
              <a:t>Нейросети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3E0D877-FCD5-4C39-9247-866C3BB6CA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2387" y="2315369"/>
            <a:ext cx="4467225" cy="3371850"/>
          </a:xfrm>
        </p:spPr>
      </p:pic>
    </p:spTree>
    <p:extLst>
      <p:ext uri="{BB962C8B-B14F-4D97-AF65-F5344CB8AC3E}">
        <p14:creationId xmlns:p14="http://schemas.microsoft.com/office/powerpoint/2010/main" val="1036173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B2568D-F678-466E-9B3F-4EFCABF9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FFFF"/>
                </a:solidFill>
                <a:latin typeface="system-ui"/>
              </a:rPr>
              <a:t>Нейросети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238784C8-B054-4376-BAA3-A94AF437B5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3869" y="1825625"/>
            <a:ext cx="5904261" cy="4351338"/>
          </a:xfrm>
        </p:spPr>
      </p:pic>
    </p:spTree>
    <p:extLst>
      <p:ext uri="{BB962C8B-B14F-4D97-AF65-F5344CB8AC3E}">
        <p14:creationId xmlns:p14="http://schemas.microsoft.com/office/powerpoint/2010/main" val="3479331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B2568D-F678-466E-9B3F-4EFCABF9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FFFF"/>
                </a:solidFill>
                <a:latin typeface="system-ui"/>
              </a:rPr>
              <a:t>Нейросети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112ECB3D-33A4-4FE7-B7A4-E8450E95C3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2774" y="1825625"/>
            <a:ext cx="7246451" cy="4351338"/>
          </a:xfrm>
        </p:spPr>
      </p:pic>
    </p:spTree>
    <p:extLst>
      <p:ext uri="{BB962C8B-B14F-4D97-AF65-F5344CB8AC3E}">
        <p14:creationId xmlns:p14="http://schemas.microsoft.com/office/powerpoint/2010/main" val="2935046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B2568D-F678-466E-9B3F-4EFCABF9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FFFF"/>
                </a:solidFill>
                <a:latin typeface="system-ui"/>
              </a:rPr>
              <a:t>Нейросети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E619BB4-71C4-49DA-8883-C031DDCF69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2587" y="2548731"/>
            <a:ext cx="8886825" cy="2905125"/>
          </a:xfrm>
        </p:spPr>
      </p:pic>
    </p:spTree>
    <p:extLst>
      <p:ext uri="{BB962C8B-B14F-4D97-AF65-F5344CB8AC3E}">
        <p14:creationId xmlns:p14="http://schemas.microsoft.com/office/powerpoint/2010/main" val="13388869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B2568D-F678-466E-9B3F-4EFCABF9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FFFF"/>
                </a:solidFill>
                <a:latin typeface="system-ui"/>
              </a:rPr>
              <a:t>Нейросети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21AA49B8-E75B-4314-B955-1EFEE407D0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0409" y="1825625"/>
            <a:ext cx="6051181" cy="4351338"/>
          </a:xfrm>
        </p:spPr>
      </p:pic>
    </p:spTree>
    <p:extLst>
      <p:ext uri="{BB962C8B-B14F-4D97-AF65-F5344CB8AC3E}">
        <p14:creationId xmlns:p14="http://schemas.microsoft.com/office/powerpoint/2010/main" val="41729305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B2568D-F678-466E-9B3F-4EFCABF9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FFFF"/>
                </a:solidFill>
                <a:latin typeface="system-ui"/>
              </a:rPr>
              <a:t>Нейросети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12C923-0AE3-4BE9-8D20-F34057654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067829C-5B68-4D17-93A9-CB21E2997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014" y="1690688"/>
            <a:ext cx="7563971" cy="465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3744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B2568D-F678-466E-9B3F-4EFCABF9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FFFF"/>
                </a:solidFill>
                <a:latin typeface="system-ui"/>
              </a:rPr>
              <a:t>Нейросеть из одного нейрона.</a:t>
            </a:r>
            <a:br>
              <a:rPr lang="ru-RU" dirty="0">
                <a:solidFill>
                  <a:srgbClr val="FFFFFF"/>
                </a:solidFill>
                <a:latin typeface="system-ui"/>
              </a:rPr>
            </a:br>
            <a:r>
              <a:rPr lang="ru-RU" dirty="0">
                <a:solidFill>
                  <a:srgbClr val="FFFFFF"/>
                </a:solidFill>
                <a:latin typeface="system-ui"/>
              </a:rPr>
              <a:t>На что похоже?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7AB9001-B6C5-40DD-ADAF-0D50C48BC1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5000" y="1953419"/>
            <a:ext cx="8382000" cy="4095750"/>
          </a:xfrm>
        </p:spPr>
      </p:pic>
    </p:spTree>
    <p:extLst>
      <p:ext uri="{BB962C8B-B14F-4D97-AF65-F5344CB8AC3E}">
        <p14:creationId xmlns:p14="http://schemas.microsoft.com/office/powerpoint/2010/main" val="40738467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B2568D-F678-466E-9B3F-4EFCABF9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FFFF"/>
                </a:solidFill>
                <a:latin typeface="system-ui"/>
              </a:rPr>
              <a:t>Нейросеть из одного нейрона.</a:t>
            </a:r>
            <a:br>
              <a:rPr lang="ru-RU" dirty="0">
                <a:solidFill>
                  <a:srgbClr val="FFFFFF"/>
                </a:solidFill>
                <a:latin typeface="system-ui"/>
              </a:rPr>
            </a:br>
            <a:r>
              <a:rPr lang="ru-RU" dirty="0">
                <a:solidFill>
                  <a:srgbClr val="FFFFFF"/>
                </a:solidFill>
                <a:latin typeface="system-ui"/>
              </a:rPr>
              <a:t>На что похоже?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56601854-75A2-4774-8761-7BD4FD8CD9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88378"/>
            <a:ext cx="4706123" cy="4351338"/>
          </a:xfr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0789152-E1CF-4AE7-BC69-A9DECDEE1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024" y="1902947"/>
            <a:ext cx="4899770" cy="433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6390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B2568D-F678-466E-9B3F-4EFCABF9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FFFF"/>
                </a:solidFill>
                <a:latin typeface="system-ui"/>
              </a:rPr>
              <a:t>Нейросеть из одного нейрона.</a:t>
            </a:r>
            <a:br>
              <a:rPr lang="ru-RU" dirty="0">
                <a:solidFill>
                  <a:srgbClr val="FFFFFF"/>
                </a:solidFill>
                <a:latin typeface="system-ui"/>
              </a:rPr>
            </a:br>
            <a:r>
              <a:rPr lang="ru-RU" dirty="0">
                <a:solidFill>
                  <a:srgbClr val="FFFFFF"/>
                </a:solidFill>
                <a:latin typeface="system-ui"/>
              </a:rPr>
              <a:t>На что похоже?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26864FDD-5822-408A-B4D5-78AD8BF055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53456" y="1825625"/>
            <a:ext cx="4485088" cy="4351338"/>
          </a:xfrm>
        </p:spPr>
      </p:pic>
    </p:spTree>
    <p:extLst>
      <p:ext uri="{BB962C8B-B14F-4D97-AF65-F5344CB8AC3E}">
        <p14:creationId xmlns:p14="http://schemas.microsoft.com/office/powerpoint/2010/main" val="37171250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B2568D-F678-466E-9B3F-4EFCABF9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FFFF"/>
                </a:solidFill>
                <a:latin typeface="system-ui"/>
              </a:rPr>
              <a:t>Многослойный перцептрон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21AA49B8-E75B-4314-B955-1EFEE407D0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0409" y="1825625"/>
            <a:ext cx="6051181" cy="4351338"/>
          </a:xfrm>
        </p:spPr>
      </p:pic>
    </p:spTree>
    <p:extLst>
      <p:ext uri="{BB962C8B-B14F-4D97-AF65-F5344CB8AC3E}">
        <p14:creationId xmlns:p14="http://schemas.microsoft.com/office/powerpoint/2010/main" val="35702809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B2568D-F678-466E-9B3F-4EFCABF9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FFFF"/>
                </a:solidFill>
                <a:latin typeface="system-ui"/>
              </a:rPr>
              <a:t>Многослойный перцептрон. Вход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21AA49B8-E75B-4314-B955-1EFEE407D0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0409" y="1825625"/>
            <a:ext cx="6051181" cy="4351338"/>
          </a:xfrm>
        </p:spPr>
      </p:pic>
    </p:spTree>
    <p:extLst>
      <p:ext uri="{BB962C8B-B14F-4D97-AF65-F5344CB8AC3E}">
        <p14:creationId xmlns:p14="http://schemas.microsoft.com/office/powerpoint/2010/main" val="18283845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B2568D-F678-466E-9B3F-4EFCABF9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FFFF"/>
                </a:solidFill>
                <a:latin typeface="system-ui"/>
              </a:rPr>
              <a:t>Многослойный перцептрон. Скрытые слои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21AA49B8-E75B-4314-B955-1EFEE407D0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0409" y="1825625"/>
            <a:ext cx="6051181" cy="4351338"/>
          </a:xfrm>
        </p:spPr>
      </p:pic>
    </p:spTree>
    <p:extLst>
      <p:ext uri="{BB962C8B-B14F-4D97-AF65-F5344CB8AC3E}">
        <p14:creationId xmlns:p14="http://schemas.microsoft.com/office/powerpoint/2010/main" val="42913681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B2568D-F678-466E-9B3F-4EFCABF9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FFFF"/>
                </a:solidFill>
                <a:latin typeface="system-ui"/>
              </a:rPr>
              <a:t>Многослойный перцептрон. Выход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21AA49B8-E75B-4314-B955-1EFEE407D0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0409" y="1825625"/>
            <a:ext cx="6051181" cy="4351338"/>
          </a:xfrm>
        </p:spPr>
      </p:pic>
    </p:spTree>
    <p:extLst>
      <p:ext uri="{BB962C8B-B14F-4D97-AF65-F5344CB8AC3E}">
        <p14:creationId xmlns:p14="http://schemas.microsoft.com/office/powerpoint/2010/main" val="26508611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B2568D-F678-466E-9B3F-4EFCABF9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FFFF"/>
                </a:solidFill>
                <a:latin typeface="system-ui"/>
              </a:rPr>
              <a:t>Многослойный перцептрон. Обучение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21AA49B8-E75B-4314-B955-1EFEE407D0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0409" y="1825625"/>
            <a:ext cx="6051181" cy="4351338"/>
          </a:xfrm>
        </p:spPr>
      </p:pic>
    </p:spTree>
    <p:extLst>
      <p:ext uri="{BB962C8B-B14F-4D97-AF65-F5344CB8AC3E}">
        <p14:creationId xmlns:p14="http://schemas.microsoft.com/office/powerpoint/2010/main" val="13748946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B2568D-F678-466E-9B3F-4EFCABF9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FFFF"/>
                </a:solidFill>
                <a:latin typeface="system-ui"/>
              </a:rPr>
              <a:t>Многослойный перцептрон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5BBD882-F393-4A8D-B14F-92C0639A0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https://playground.tensorflow.org/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7346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</TotalTime>
  <Words>152</Words>
  <Application>Microsoft Office PowerPoint</Application>
  <PresentationFormat>Широкоэкранный</PresentationFormat>
  <Paragraphs>39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system-ui</vt:lpstr>
      <vt:lpstr>Office Theme</vt:lpstr>
      <vt:lpstr>Классификация</vt:lpstr>
      <vt:lpstr>Повторение</vt:lpstr>
      <vt:lpstr>Повторение</vt:lpstr>
      <vt:lpstr>kNN</vt:lpstr>
      <vt:lpstr>Деревья решений</vt:lpstr>
      <vt:lpstr>Деревья решений</vt:lpstr>
      <vt:lpstr>Логистическая регрессия</vt:lpstr>
      <vt:lpstr>Логистическая регрессия</vt:lpstr>
      <vt:lpstr>Логистическая регрессия vs Дерево решений</vt:lpstr>
      <vt:lpstr>CatBoost</vt:lpstr>
      <vt:lpstr>CatBoost</vt:lpstr>
      <vt:lpstr>Нейросети</vt:lpstr>
      <vt:lpstr>Нейросети</vt:lpstr>
      <vt:lpstr>Нейросети</vt:lpstr>
      <vt:lpstr>Нейросети</vt:lpstr>
      <vt:lpstr>Нейросети</vt:lpstr>
      <vt:lpstr>Нейросети</vt:lpstr>
      <vt:lpstr>Нейросети</vt:lpstr>
      <vt:lpstr>Нейросеть из одного нейрона. На что похоже?</vt:lpstr>
      <vt:lpstr>Нейросеть из одного нейрона. На что похоже?</vt:lpstr>
      <vt:lpstr>Нейросеть из одного нейрона. На что похоже?</vt:lpstr>
      <vt:lpstr>Многослойный перцептрон</vt:lpstr>
      <vt:lpstr>Многослойный перцептрон. Вход</vt:lpstr>
      <vt:lpstr>Многослойный перцептрон. Скрытые слои</vt:lpstr>
      <vt:lpstr>Многослойный перцептрон. Выход</vt:lpstr>
      <vt:lpstr>Многослойный перцептрон. Обучение</vt:lpstr>
      <vt:lpstr>Многослойный перцептрон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Классификация</dc:title>
  <dc:creator>Александров Павел Евгеньевич</dc:creator>
  <cp:lastModifiedBy>Александров Павел Евгеньевич</cp:lastModifiedBy>
  <cp:revision>12</cp:revision>
  <dcterms:created xsi:type="dcterms:W3CDTF">2025-11-05T14:40:48Z</dcterms:created>
  <dcterms:modified xsi:type="dcterms:W3CDTF">2025-11-06T06:55:46Z</dcterms:modified>
</cp:coreProperties>
</file>